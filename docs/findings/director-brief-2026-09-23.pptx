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Demand for brand visibility inside AI assistants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Director brief · file date 2026-09-23 · long form of the 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Passes 0–9 and 11 done; Pass 10 held by owner decision 2026-09-22 22:40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All 23 hypotheses touched · all six lanes · compiled files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Source: docs/findings/director-brief-2026-09-23.md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 question and the short answer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What was done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 market: size, paid inventory, agentic checkout, regulation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Demand: the 27-cell segment read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Proof: what the published cases show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What brands that moved changed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Hypotheses and programme-done rows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What the evidence does not show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Questions only the owner can answer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Which segments show real-world demand for visibility and recommendation inside AI assistants, what evidence shows it works, and what did brands that moved actually change? (method/plan.md L11)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Demand: 7 of 27 cells read spend; 5 enterprise; 6 of 7 rest on job postings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Proof: 0 Gold of ~980 screened; no holdout, geo-split or switchback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Paid: live on ChatGPT and Google, refused by Claude; no rate card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Size: no sub-market measured; every dollar size is a forecast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Change: content ops 63 and stack 58 cases against paid media 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Own sampling: partial day 0 only; held 2026-09-22 22:40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was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93776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pulled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0–1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method rules; source channels, query 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 deliverables; 42 clusters after AMEND-1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platform primaries; vendor census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raw pulls; 121 screened, 26 rostered, ~190 pulls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published success stories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 clusters; ~980 candidates screened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manipulation techniques, countermeasures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 clusters, ~70 raw pulls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market sizes; competitor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 size pulls, 18 figures; 41 profiles +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demand signals per segment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 + 10 + 12 signal pulls; 27 cells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9, 11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findings and review; transition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review recounted 27 claims; 108 cases, 99 name a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 — held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our own engine panel, day 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Claude 83 of 160; Gemini 24 of 160; AI Mode 76 of 176; ChatGPT, Perplexity 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Market size: none measured, forecasts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No sub-market has a measured size. Forecasts are forecasts, never a size.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7607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Measured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none; 15 of 18 published figures are forecasts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analyst-derived,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Organic, bottom-up floor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$5.3M–$35.2M annualised; 4 of 34 vendors (~12%)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 inputs, 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Paid, agentic bottom-up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computable from disclosed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Forecast, organic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Valuates US$7,318M 2031 · Market Decipher USD 32.92B 2034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forecast, 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Forecast,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EMARKETER US $68.25B 2030 · WPP Media global over $100 billion 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Forecast, agentic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EMARKETER US $144B 2029 · McKinsey global $3T–$5T 2030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forecast, 6 · 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Agentic 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USD 144B to USD 5T, roughly 35×, scopes not comparable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Attention proxy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IAB: 76% of &gt;200 buyers name AI answers No. 1 focus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analyst-derived, 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Paid inventory, per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ChatGPT ads: $1 billion annualized run rate (company-stated, tier 3, 2026-08-31). 0 of 8 rate cards.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Engine / metric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live from 2026-02-09; self-serve Ads Manager 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Google AI Overviews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live; existing campaigns auto-eligible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Google AI Mode · Gemini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testing · unknown — checked 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— "Claude will remain ad-free", 2026-02-04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 of 8 engines live; 0 of 8 rate cards; 1 of 8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Only price stated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OpenAI max-bid guidance $3–$5 USD per click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ChatGPT ad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26% · 4.47% US · 0.00% of 169,560 UK scrapes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Measured by us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ad units in 76 AI Mode runs; 0 of 14 AIO rendered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measured-by-us, 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Agentic checkout and regulation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2179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Live checkout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 — ChatGPT, Google, Copilot,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Fee disclosed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of 4 — Copilot, no commission; protocol fee clauses 6 of 6 unknown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Open protocols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ACP, UCP, x402 Apache-2.0 (H8 confirmed)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AI conversion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Adobe 42% higher vs non-AI · Shopify nearly 50% vs organic search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vendor-reported, 4 · 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AI Act Art. 50 from 2026-08-02; ChatGPT VLOSE 2026-08-31, 159.1M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filed,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Enforcement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none found on AI-answer ad disclosure, any jurisdiction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Court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Microsoft 83-93% drops in click-through rates (ECF 1977-1)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filed,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Supply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A $1.8B valuation beside 2 of 34 vendors filing any revenue.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Vendors rostered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 of 121 screened; 34 after Pass 3; 41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Largest round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Profound $180M Series D at $1.8B, 2026-09-15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Funding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 of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Price disclosed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 of 34; self-serve $20/mo to $999/month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Filed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of 34; neither broken out to this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filed, 5 relayed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Prompt set disclosed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of 34 vendors; 0 of 41 profiles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Acquisitions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Semrush → Adobe 2026-04-28; Scrunch → Sitecore 2026-06-03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filed; company-stated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Demand: the 27-cell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Willingness to pay: unknown in 27 of 27 cells. No buyer discloses a price paid.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27-cell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 spend · 1 attention · 11 none — checked · 8 blank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Signal carrying spend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 of 7 spend cells rest on S1 job postings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company-stated,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Where spend 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 of 7 spend cells enterprise; 1 of 9 SMB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By sub-market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organic 5 spend · paid 1 · agentic 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analyst-derived,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Rule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strict none rule: 8 of 27 meet bar; loose: 27 of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analyst-derived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Demand per vertical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Skincare and beauty — 3 spend, all enterprise (e.l.f. AEO/GEO team, Direct Offers pilot, agentic role); 1 attention; 5 none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Skincare agentic × enterprise: spend in customers/, attention in markets/ — both stand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B2B SaaS — 3 spend, all organic (Actindo, AutoLeap, Pennylane and Mercury); 6 none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High-CPA regulated — 1 spend (Cigna); 8 blank; no source states an SMB or mid-market band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Floor read both ways: customers/ reads tier-3 postings as spend; source censuses read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Proof: what the published cases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No causal lift anywhere. H3 killed.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Label, 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Candidates screened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~980, Passes 3 and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measured-by-us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0; zero holdout, geo-split or switchback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 cases, 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 as graded in raw · 1 under grading 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 cases,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Direction of the Silvers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of 7 negative or null (NerdWallet, TW3/Citead)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filed 2; preprint 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Brand-side corroboration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of 59 corroborate; 59 silent; ~107 unchecked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measured-by-us,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Paid-by-outcome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yes / 0 no / 12 unknown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vendor-reported, 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Anchor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skincare 0 Silver at ~133 screened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vendor-reported,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seven Silvers, graded two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2011680"/>
                <a:gridCol w="20116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 graded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 1 (item missing)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Quattr / Men's Wearhouse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up: 46% more clicks, treated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Sitefire / Pointhound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up: +300% site visits from AI Search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(6)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Sitefire / Jerry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up: +78% AI referral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/ 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Seer / SaaS HR client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up: 300% increase in AI traffic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(3, 7)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Tiwari GSC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mixed: 22% CTR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(3,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NerdWallet 8-K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negative: credit cards revenue decreased 24%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Bronze (6)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TW3 / Citead 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null: citation moved on none of ten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brands that moved changed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H10, H11 confirmed at Pass 11; earlier marks stand beside (H10 not produced; H11 killed / not produced).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 of change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Cases naming it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Of which tier ≤3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Content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 (15 are llms.txt)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Stack (vendor tool)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Other (agency, PR, KPI, checkout)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Org (hire, team, role)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Paid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both Google's Direct Offers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None named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Cases in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108; 99 name a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Hypotheses: 23, three readings, none averaged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Pass 9: 6 · 6 · 4 · 7. Register (review-1): 4 · 3 · 8 · 8. After Pass 11: 17 of 23 scored, 6 not produced.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937760"/>
                <a:gridCol w="219456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 9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Register now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 vendor demonstrates causal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corpus seeding measurably moves an answer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unresolved — checked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brand action precedes measured visibility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unresolved —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org/content changes outnumber paid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produced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Pass 11 confirmed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tier-3 transition evidence per vertical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produced; Pass 11 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composite-score vendors disclose prompt 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unresolved — checked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every published size is a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unresolved —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HE2–HP4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six panel hypotheses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produced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produced (Pass 10 held)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Programme done: 6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2608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Tier-3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≥80%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met — 68.0% (17 of 25, Pass 9) · 44.4% (12 of 27, review-1)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P1 engine × sub-market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number or unknown — checked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met — 9 of 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Segment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every cell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met — 19 of 27; strict 8, loose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Success stories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Silver per vertical or absence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met under both grade readings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Hypotheses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every H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met — 15 of 23 (register); 17 of 23 (after Pass 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Pass 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 predictions on panel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met — 0 of 3; held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evidence does not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Causal sales lift from any intervention (~980 screened)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Whether AI referral converts above organic search (H1 unresolved)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Any sub-market size, any price a buyer paid, any engine rate card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 per-engine AI referral or conversion breakout from any retail publisher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Brand-side confirmation of a vendor case: 0 of 59 checked; ~107 unchecked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Neutral engine answers to buying-shaped prompts: six panel hypotheses not produced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Anything behind blocked channels: sec.gov, Reddit, G2/Capterra, Indeed/Upwork, Google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Questions only the owner can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No lean is attached to any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1. Do the seven plan-review-2 §8 appends (a–g) go into method/plan.md?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2. Does Pass 10 reopen, and under which vantage — logged-in or out, which region or egress?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3. Which Silver count governs: 7 as graded, or 1 under grading rule 1?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4. Which sub-market does the hypothetical product target — organic, paid, agentic, or more than one?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5. Does the builder-constraint question return to scope?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Confidence and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Tier-3 share 68.0% and 44.4%, both below the 80% bar; shortfall is case corpus and forecasts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Survivorship: published cases are winners; re-grading moved 12 up, 0 down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Prices, counts, funding, cases: self-reports, none independently audited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Measured by us: partial day-0 panel only, one date, one localised network path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Conflicts kept side by side, never averaged: Silver 7 / 1; ad presence 26% / 4.47% / 0.00%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Absence is only as strong as the channels checked; several were blocked, not exhausted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Profiles go stale 2026-12-22; this deck carries evidence, not a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Pulls dated 2026-09-22.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