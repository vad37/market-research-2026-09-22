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Demand for brand visibility inside AI assistants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Director brief r2 · file date 2026-09-23 · snapshot c1e632c · long form of the executive brief r2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Passes 0–9, 11–14 done; Pass 16 research complete; Pass 10 skipped by owner 2026-09-23; Pass 15 not run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All 32 hypotheses · all six lanes · compiled files only · 0 pulls for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Source: docs/findings/director-brief-2026-09-23-r2.md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The question, and what the evidence supports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Why now: dated triggers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The market: size three ways, paid inventory, prices, sub-markets side by side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Demand: 27 core cells (both readings), local, EU, brand accuracy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Evidence quality: three-counts, negative tail beside positives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Hypotheses (32) · ranked risks · programme-done rows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What the evidence does not show · questions only the owner can answer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question, and what the evidence supports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Which segments show real-world demand for visibility and recommendation inside AI assistants, what evidence shows it works, and what did brands that moved actually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Demand: 8 of 27 core cells read spend under both readings (strict 8/1/17/1; loose 8/1/18/0); mostly enterprise organic; on job postings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Price paid: unknown in 27 of 27 cells and 9 local cells; no buyer discloses one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Paid: live on four engines; OpenAI "$1 billion" run rate; 0 of 8 engines publish a rate card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Proof: 0 Gold in ~980 + ~1,640 screened; Silver 7 grade_raw / 1 grade_rule1 (+4 / +1); two highest-tier Silvers negative or null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Change: content ops 63, stack 58, paid media 2 of 108; 37 name an action with no measured outcome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Size: none measured; forecasts disagree 1.92× (organic 2034) to 26.3× (agentic 2030)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The evidence stops at correlation and self-report; whether any of it pays is shown by no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now: 8 of 54 dated triggers (26 at tier 2, 24 at tier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046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Tier, label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2026-02-04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"Claude will remain ad-free"; no third-party product placements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3, company-stated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2026-02-09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ChatGPT Ads live, US pilot; WPP, Omnicom, dentsu statements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3, company-stated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2026-02-25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NerdWallet 8-K: cards revenue "decreased 24%", "AI overviews and LLMs"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 filed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2026-04-28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Semrush merger into Adobe completed, "$12.00/share cash"; AP2 "donated to FIDO"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 filed;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2026-06-17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CMA fair-ranking conduct requirement, "search generative AI features"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 filed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2026-08-31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ChatGPT designated VLOSE, 159.1M EU recipients; ChatGPT Ads "$1 billion... run rate"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 filed;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2026-09-17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ECF 1977-1: Microsoft "83-93% drops in click-through rates"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 filed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2027-01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ChatGPT DSA obligations "start applying in January 2027" (compliance window, not a forecast)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 filed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size three ways: no measured size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Floors and forecasts are never sizes. 18 published figures: 15 forecasts, 0 sizes; 10 further forecasts 2026-09-23.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310896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Way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Agentic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Bottom-up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$42.2M–$48.2M + €2.2M ARR, 4 vendors (filed 2 / stated 5); $5.3M–$35.2M price × count (5) beside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≥ $1B run rate, one engine (3); 0.45% of Google Search &amp; other FY2025, bases differ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unknown — checked six owners 2026-09-23; Rufus "nearly $12 billion" adjacent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Engine reach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ChatGPT "&gt;1 billion" WAU; Gemini app 950M MAU; AIO 2.5B; AI Mode 1B MAU; Grok 117M (filed)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ChatGPT WAU 700M → &gt;1B; AIO 2B → 2.5B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Rufus 250M → "300 million+" customers 2025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Forecasts (never sizes)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2034: $17.15B–$32.92B, 1.92×, tier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2030: ~$5B–$100B+, ~20×, scopes differ, tier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2030: $190B–$5T, 26.3×, tier 5–6; "roughly 35×" 2029–30 beside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Ad baselines, filed (USD M)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Google Search &amp; other "$ 224,532" FY2025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Microsoft search "15,176" FY2026; Amazon ads "68,635" FY2025; Meta "$ 196,175"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AI-surface ad line in any filer: none stated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Paid inventory and every price published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"0 of 8 publish a rate card". Four engines live; Claude refuses; Perplexity winding down (tier 5).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Figure, verbatim where quoted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live from 2026-02-09; "over 40 countries"; 31 EU markets; "tens of thousands of advertisers" vs panels 820–7,378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3;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Google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Overviews live, campaigns auto-eligible, "you can't opt out"; AI Mode testing; Gemini app none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Copilot; 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live via Microsoft auction; Rufus / Alexa prompts GA US 2026-03-25, 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OpenAI price points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"$3–$5 USD per click" max bid; min "25 USD"/day; launch "$60" CPM, minimum removed 2026-05-05 (5)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3; 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ChatGPT ad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0.8% (launch) · 4.47% US (Mar–May) · 26% US desktop (Jun) · 0.00% of 169,560 UK — not reconciled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Organic tools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"$20–$999/month self-serve", 14 of 34 disclose; Semrush delta "+$60/mo"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Agentic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Copilot Checkout 0%; Instant Checkout "a small fee", rate undisclosed; 6 of 6 protocol fee clauses 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Publisher side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Cloudflare "$0.001 USD per crawl" floor; ProRata "50% of revenues"; Reddit "Other revenue" $43,280K Q2 2026 (2)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3; 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Sub-markets side by side: no choice 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743200"/>
                <a:gridCol w="3291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Sub-market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Demand, 9 cells strict — loose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proof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Supply, disclosure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 ranks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Organic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 / 1 / 1 / 1 — 6 / 1 / 2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Gold; Silver 7 grade_raw / 1 grade_rule1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34 rostered; price 14 of 34; funding 8 of 34; filed revenue 2 of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1, 3–7, 10,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Paid placement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/ 0 / 8 / 0 — same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Fools gold; 15 screened, 0 cleared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 of 8 engines live; 0 of 8 rate card; 1 of 8 revenue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 4–8, 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Agentic 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/ 0 / 8 / 0 — 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 graded; 22 "screened — not opened"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programs live; fee 1 of 4; protocol fees 0 of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4, 5, 6, 9, 11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Demand: 27 core cells, both readings, plus the wider cuts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Willingness to pay: unknown in 27 of 27 and 9 of 9 local cells. Budget line: unknown — checked in all three verticals.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554480"/>
                <a:gridCol w="228600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none — checked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blank / other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27 cells, strict (2026-09-23)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(skincare Organic / Mid)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27 cells, loose (2026-09-23)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27 cells, 2026-09-22 read, beside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Local / multi-location, 9 cells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EU, 45 cells (UK, FR, ES, IT, 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unassigned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S13 brand accuracy, 27 cells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By sub-market, spend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organic 6 / paid 1 / agentic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SMB spend cell 1 of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Demand: where the signals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6 of 7 spend cells rest on S1 job postings (2026-09-22), the catalogue's weakest spend class; the eighth cell (high-CPA Organic / Mid-market) is S1 too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Skincare Agentic / Enterprise reads spend in the customers file and attention in the agentic market file — both stand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One filed spend-class signal: KKH TED framework max "11,000,000.00 EUR" naming GEO as one of ~18 themes — a ceiling, not GEO spend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Posting bodies: 6 of 35 read from employer sites, 6 confirm GEO as a duty, 0 name an engine by brand; Cigna names AEO vendors "Profound, Scrunch, Bluefish, Evertune"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Engine × segment: ChatGPT top by mention in skincare 91, B2B SaaS 104, high-CPA 49; local Gemini / AI Mode / AIO 102 vs ChatGPT 97; cell-attributable naming in 5 cells only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Adoption proxies: G2 AEO listings 160 → 632 (2025-11 → 2026-09); llmstxt.site hosts 56 → 1,497, flat over the last three captures; none distinguishes a paying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Evidence quality: three-counts under both readings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Gold 0. Every Silver is vendor- or practitioner-measured; none replicated.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1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Screened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~980 (Passes 3–4) + ~1,640 (re-hunt); ad results 15 screened, 0 cleared; Reddit 852 records, 38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 grade_raw / 1 grade_rule1 (2026-09-22); +4 grade_raw / +1 grade_rule1 (2026-09-23), all outside the three verticals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Case corpus (52),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 metric-moved experimental / 29 observational / 13 action named, outcome 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Case corpus (52), R2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 / 34 / 13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Transition set (108),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 / 61 / 37 (4 outside the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Transition set (108), R2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/ 66 / 37 (4 outside)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Brand corroboration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of 59 (2026-09-22); 1 of 109 (2026-09-23, Chime); cumulative 1 of 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Paid-by-outcome; sales crossing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yes / 0 no / 12 unknown; only NerdWallet reaches sales, as a revenue line attributed by management, not lift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Negative tail beside the positive Silvers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27 documents state a decline, null or negative; 19 at tier 2–3. Every positive Silver is tier 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146304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Figure, verbatim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Microsoft, ECF 1977-1, 2026-09-17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"83-93% drops in click-through rates for The Times and DNP's domains"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NerdWallet 8-K, 2026-02-25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"Credit cards revenue of $26.5 million decreased 24% year-over-year"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IAC / People Inc decks, 2026-02-03, 2026-05-04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"50% decline" then "63% decline in Google Search referrals over two years"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People Inc 10-Q, 2026-08-03; Chegg 8-K, 2025-08-05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"22% decline in Core Sessions"; subscribers "decline of 40%"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TW3 / Citead, arXiv 2609.07559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GEO levers move citation on "none" of ten engine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HubSpot, Fortune op-ed, 2026-09-22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blog "5 million" fewer visits in a thirty-day period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Quattr / Men's Wearhouse; Sitefire / Pointhound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"46% more clicks"; "+300% more site visits from AI Search" — Silver / Bronze under 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Chime careers page, 2025-11-24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"tripled our AI citations" — the one tier-3 positive, graded Bronze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Hypotheses: 32 registered, 26 scored, marks as each source states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Latest register: confirmed 11 + 3 dual · killed 7 · unresolved 5 + 3 dual · not produced 6. Pass 9 read 6 / 6 / 4 / 7 stands beside.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572000"/>
                <a:gridCol w="310896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Claim, abbreviated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Latest mark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 marks beside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 vendor demonstrates causal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brand action precedes measured visibility change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confirmed (rule1, narrow) / unresolved (verticals)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confirmed (Pass 9); unresolved (review-1)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H7, H9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organic spends in more cells; agentic spend enterprise-only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H7 confirmed (loose) / unresolved (strict); H9 confirmed both readings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H10, H11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org/content changes outnumber paid; tier-3 transition evidence per vertical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confirmed; confirmed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produced; killed / not produced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every published size is a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unresolved —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confirmed (Pass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H17, H20–H22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engine ad disclosure; controlled ad result; user counts; forecast spread &gt;3×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killed ×4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registered before 2026-09-23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H18, H19, H23–H25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network rate card; third-party placement; steering papers; in-answer auction; public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confirmed ×5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registered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HE2, HE3, HP1–HP4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six panel hypotheses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produced — Pass 10 skipped by owner 2026-09-23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produced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Ranked risks 1–6 (criterion: evidence tier, then breadth)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Likelihood, impact, mitigation, owner: no source states one. Ranks follow the criterion, not severity.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420624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Strongest evidence (tier)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Repo holds against it (tier)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Referral collapse: the answer replaces the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"83-93% drops in click-through rates" (2); cards revenue "decreased 24%"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referral visits 770.7M/month, "+117.4%"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Regulation: disclosure duties, exclusions, fair-ranking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Act Art. 50; VLOSE, Art. 39 duty Jan 2027 (2); CMA (2); AIO ads exclude finance, healthcare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"No enforcement action found against any engine" (2)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Vendor 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Semrush → Adobe (2); Yext → GoShine (2); Scrunch → Sitecore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Profound $1.8B valuation (3); 13 pure-plays rostered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Platform capture: engines sell ads, checkout, measurement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Ads Manager, Pixel, Conversions API, "more than 50" partners (3); Copilot Checkout 0% (3); campaigns auto-eligible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native visibility tools at OpenAI, Anthropic (3); AP2 to FIDO, UCP councils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payback evidence: 0 Gold; 0 of 15 ad results 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blog "5 million" fewer visits (3); CTR 1.30%, "very few sign-ups"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citations 48 vs 426 (5, Silver rule1); "3x return on ad spend", one advertiser (3, Fools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Measurement opacity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of 34 vendors disclose a prompt set (3); no AI revenue line at Alphabet (3); ad presence 0.8%–26% (5)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Pixel, Conversions API (3); Ahrefs "454M+ prompts" partial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Ranked risks 7–11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420624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Strongest evidence (tier)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Repo holds against it (tier)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Substitute channels: "do nothing" and classical search suffice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Google "no additional requirements" (3); GEO levers move citation on "none" of ten (4); "No tool requested llms.txt"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IAB "No. 1 area of increased focus... 76%" (4, attention); Coty 10-K GEO line (2, outcome unknown)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Engine policy reversal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"Claude will remain ad-free" (3); Gemini app "not rushing anything here" (3); Perplexity "winding down" (5)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"over 40 countries", "$1 billion" run rate (3); Amazon, Copilot live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Agentic rails: checkout on the engine surface, fees undisclosed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Shopify merchants auto-enrolled into Copilot Checkout (3); 6 of 6 protocol fee clauses unknown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"does not take a commission" (3); merchant stays "merchant of record"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Manipulation and countermeasures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δRate "+334%" (3); spam policy "manipulate generative AI responses" (3); 16 CFR 465.2 (2)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P1 engine names seeding, farming, citation-preference content (3); guardrails "at most 5.7% relative" (3)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Unsizeable market: every published size is a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 figures, 15 forecasts, 0 measured (6); agentic 2030 spread 26.3× (5–6)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"$38 million in ARR" (2); "$1 billion" run rate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Programme-done rows: both counts where two exist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Tier-3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met — Pass 9 list 11 of 25 = 44.0% (68.0% on 2026-09-22 tiers beside); review-1 list 12 of 27 = 44.4%; ex-Lane E 61.1% / 63.2%; ex-meta 50.0% / 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P1 engine × sub-market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number or unknown — checked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met — 9 of 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Segment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every cell read, with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strict 26 of 27 (one blank); loose 27 of 27; earlier 19 of 27 and strict 8 of 27 beside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Success stories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 Silver per vertical, or absence with count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met — grade_raw: two verticals on the Silver arm; grade_rule1: absence arm in all three (~155 / ~141 / ~55 screened)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Hypotheses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every H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partial — 26 of 32; 6 not produced while Pass 10 is skipped; earlier 15 of 23, 17 of 23 beside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Pass 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three predictions on panel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skipped by owner 2026-09-23 — 0 of 3; day-0 gap recorded, never back-filled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</a:rPr>
                        <a:t>Pass 12, 13, 14 rows (added 2026-09-23)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filled or unknown —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9 of 9 engine × ad cells; 9 of 9 sub-market × size cells; 38 papers tiered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evidence does not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Causal sales lift from any intervention: 0 Gold in ~2,620 items; best designs one unit per arm, unreplicated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Whether AI referral converts above organic search: Adobe "42% Higher" compares AI to non-AI visits; the organic comparator exists only at tier 5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Any sub-market size, price paid, engine rate card, protocol fee, agent-executed GMV, or the budget line spend comes from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A per-engine AI referral or conversion breakout from any retail-analytics publisher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Whether a named brand confirms a vendor case: 1 of 168 (a Wayback copy of a careers page)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What engines return to buying-shaped prompts under neutral conditions: six panel hypotheses not produced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Whether any posting was filled or any named change shipped; live effect of any Lane D technique on a P1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Questions only the owner can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No lean is attached to any question. Research consequence if deferred in brackets.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1. Reading R1 vs R2 for pre/post with untreated control: pick one, or keep both [every three-count prints both]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2. Judge column negative_tail: rubric (keep) or thumb (drop or reword) [judge scores as written]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3. Is "which sub-market" a permissible ask in a research brief [side by side, no choice]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4. Importance order over the 32 hypotheses [register stays in lane order]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5. Credentials: Crunchbase Pro, PitchBook, Gartner, Forrester, Bloomberg, EMARKETER, Statista, Shopify Partner, Mastercard [cells stay unknown — checked]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6. Pass 10 stays skipped, or reopens, and under which vantage [HE2, HE3, HP1–HP4 stay not produced]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Raised by the evidence: grade_raw or grade_rule1; strict or loose; reserve verticals (trigger met under rule1 only); builder-constraint question as hypothetical or researched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Confidence and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Tier-3 share 44.0% / 44.4% against an 80% bar; the shortfall is Lane E vendor cases and tier-6 forecasts; 0 of 12 sub-tier claims re-evidenced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Survivorship: published cases are winners; re-grading moved 12 up, 0 down; new Silvers run by vendors on their own properties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Self-reports throughout: prices, counts, funding, cases, postings; none independently audited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Measured by us: day-0 panel only (one date, one localised path) and screen, word and HTTP counts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41 figures carried twice, both standing, none averaged: stale 6; two bases 9; two tiers 5; two sources or dates 17; two readings 3; two pulls 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24 of 59 compiled files exceed their line count; compression pass named as method debt, not run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Absence is only as strong as the channels checked: live Reddit, Indeed, EMARKETER, Perplexity hub still blocked; Crunchbase, Gartner, Forrester need payment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Profiles stale from 2026-12-22; this deck carries evidence, not a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Research only — evidence, not a verdict. Snapshot c1e632c, 2026-09-23.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